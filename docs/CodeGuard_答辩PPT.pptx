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2ea49c89bd46a9" /><Relationship Type="http://schemas.openxmlformats.org/officeDocument/2006/relationships/extended-properties" Target="/docProps/app.xml" Id="R58cf5f448c65475e" /><Relationship Type="http://schemas.openxmlformats.org/officeDocument/2006/relationships/officeDocument" Target="/ppt/presentation.xml" Id="Rbaf55c7829e4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30ebbc5e494beb"/>
  </p:sldMasterIdLst>
  <p:notesMasterIdLst>
    <p:notesMasterId xmlns:r="http://schemas.openxmlformats.org/officeDocument/2006/relationships" r:id="Rfbadf2717de04b08"/>
  </p:notesMasterIdLst>
  <p:sldIdLst>
    <p:sldId xmlns:r="http://schemas.openxmlformats.org/officeDocument/2006/relationships" id="256" r:id="Re48886a223a6461d"/>
    <p:sldId xmlns:r="http://schemas.openxmlformats.org/officeDocument/2006/relationships" id="257" r:id="Rea447a4868af46fa"/>
    <p:sldId xmlns:r="http://schemas.openxmlformats.org/officeDocument/2006/relationships" id="258" r:id="R064747db625c411b"/>
    <p:sldId xmlns:r="http://schemas.openxmlformats.org/officeDocument/2006/relationships" id="259" r:id="R413928a721df4c50"/>
    <p:sldId xmlns:r="http://schemas.openxmlformats.org/officeDocument/2006/relationships" id="260" r:id="R8c715c4cd655489a"/>
    <p:sldId xmlns:r="http://schemas.openxmlformats.org/officeDocument/2006/relationships" id="261" r:id="R59b1b24ebb684f23"/>
    <p:sldId xmlns:r="http://schemas.openxmlformats.org/officeDocument/2006/relationships" id="262" r:id="Rebb0ae8e8d2643dd"/>
    <p:sldId xmlns:r="http://schemas.openxmlformats.org/officeDocument/2006/relationships" id="263" r:id="Rf26cb1b08cde49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88894077264c06" /><Relationship Type="http://schemas.openxmlformats.org/officeDocument/2006/relationships/slideMaster" Target="/ppt/slideMasters/slideMaster1.xml" Id="R9f30ebbc5e494beb" /><Relationship Type="http://schemas.openxmlformats.org/officeDocument/2006/relationships/notesMaster" Target="/ppt/notesMasters/notesMaster1.xml" Id="Rfbadf2717de04b08" /><Relationship Type="http://schemas.openxmlformats.org/officeDocument/2006/relationships/presProps" Target="/ppt/presProps.xml" Id="Re0b421ed42b54c09" /><Relationship Type="http://schemas.openxmlformats.org/officeDocument/2006/relationships/tableStyles" Target="/ppt/tableStyles.xml" Id="Rc14b0c93b4194e8b" /><Relationship Type="http://schemas.openxmlformats.org/officeDocument/2006/relationships/slide" Target="/ppt/slides/slide1.xml" Id="Re48886a223a6461d" /><Relationship Type="http://schemas.openxmlformats.org/officeDocument/2006/relationships/slide" Target="/ppt/slides/slide2.xml" Id="Rea447a4868af46fa" /><Relationship Type="http://schemas.openxmlformats.org/officeDocument/2006/relationships/slide" Target="/ppt/slides/slide3.xml" Id="R064747db625c411b" /><Relationship Type="http://schemas.openxmlformats.org/officeDocument/2006/relationships/slide" Target="/ppt/slides/slide4.xml" Id="R413928a721df4c50" /><Relationship Type="http://schemas.openxmlformats.org/officeDocument/2006/relationships/slide" Target="/ppt/slides/slide5.xml" Id="R8c715c4cd655489a" /><Relationship Type="http://schemas.openxmlformats.org/officeDocument/2006/relationships/slide" Target="/ppt/slides/slide6.xml" Id="R59b1b24ebb684f23" /><Relationship Type="http://schemas.openxmlformats.org/officeDocument/2006/relationships/slide" Target="/ppt/slides/slide7.xml" Id="Rebb0ae8e8d2643dd" /><Relationship Type="http://schemas.openxmlformats.org/officeDocument/2006/relationships/slide" Target="/ppt/slides/slide8.xml" Id="Rf26cb1b08cde49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1138e071246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0e606c3cd4d86" /><Relationship Type="http://schemas.openxmlformats.org/officeDocument/2006/relationships/notesMaster" Target="/ppt/notesMasters/notesMaster1.xml" Id="R2847179d498249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392ff6d6d47c7" /><Relationship Type="http://schemas.openxmlformats.org/officeDocument/2006/relationships/notesMaster" Target="/ppt/notesMasters/notesMaster1.xml" Id="Ra9d7e255773743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47329f4514497" /><Relationship Type="http://schemas.openxmlformats.org/officeDocument/2006/relationships/notesMaster" Target="/ppt/notesMasters/notesMaster1.xml" Id="Rd36379d2c1e1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f6bdda2da4a06" /><Relationship Type="http://schemas.openxmlformats.org/officeDocument/2006/relationships/notesMaster" Target="/ppt/notesMasters/notesMaster1.xml" Id="R9747f9a0862246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15ce05c34247d2" /><Relationship Type="http://schemas.openxmlformats.org/officeDocument/2006/relationships/notesMaster" Target="/ppt/notesMasters/notesMaster1.xml" Id="R02fc24aa7d2a43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11a7f900c4aa5" /><Relationship Type="http://schemas.openxmlformats.org/officeDocument/2006/relationships/notesMaster" Target="/ppt/notesMasters/notesMaster1.xml" Id="Refff54c30802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d0e3efa15740ab" /><Relationship Type="http://schemas.openxmlformats.org/officeDocument/2006/relationships/notesMaster" Target="/ppt/notesMasters/notesMaster1.xml" Id="R6d131b66248e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995a1179014183" /><Relationship Type="http://schemas.openxmlformats.org/officeDocument/2006/relationships/notesMaster" Target="/ppt/notesMasters/notesMaster1.xml" Id="R6558cd84c05c40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25ef2e32141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6c5531b8945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e3a15b18b4d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485dc84eb42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71f8ec0bf40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2c52f3eb14d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386C9A-6C08-450D-99DC-A15427B2D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63814C-B50B-40C4-A215-2904F407DB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B22F14-FF0A-46AC-A34B-A1D6120A6D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43E048-CBB1-464B-A3BD-D21CDCBB1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F82822-E101-4FB7-9FC5-42D5B9159C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EBFEB9-687D-49D2-86F1-4CD61ACA3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E34BCC-59E4-40AC-94BB-59D08E6505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EA242F-940B-4AE1-8943-8162083460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0C55C6-7B6D-4A7C-BC84-76F374471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E80931-1B41-4954-9FA9-F1EAAB8479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e9ec99c07c4f43" /><Relationship Type="http://schemas.openxmlformats.org/officeDocument/2006/relationships/slideLayout" Target="/ppt/slideLayouts/slideLayout1.xml" Id="R9fb4621054c04399" /><Relationship Type="http://schemas.openxmlformats.org/officeDocument/2006/relationships/slideLayout" Target="/ppt/slideLayouts/slideLayout2.xml" Id="Ra2a36710b12b4b9d" /><Relationship Type="http://schemas.openxmlformats.org/officeDocument/2006/relationships/slideLayout" Target="/ppt/slideLayouts/slideLayout3.xml" Id="R59d16e0dd7bc4b6b" /><Relationship Type="http://schemas.openxmlformats.org/officeDocument/2006/relationships/slideLayout" Target="/ppt/slideLayouts/slideLayout4.xml" Id="R49570cf870f74882" /><Relationship Type="http://schemas.openxmlformats.org/officeDocument/2006/relationships/slideLayout" Target="/ppt/slideLayouts/slideLayout5.xml" Id="Raa089d4459b74d5f" /><Relationship Type="http://schemas.openxmlformats.org/officeDocument/2006/relationships/slideLayout" Target="/ppt/slideLayouts/slideLayout6.xml" Id="R06af07b92fd046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4621054c04399"/>
    <p:sldLayoutId xmlns:r="http://schemas.openxmlformats.org/officeDocument/2006/relationships" id="2147483650" r:id="Ra2a36710b12b4b9d"/>
    <p:sldLayoutId xmlns:r="http://schemas.openxmlformats.org/officeDocument/2006/relationships" id="2147483651" r:id="R59d16e0dd7bc4b6b"/>
    <p:sldLayoutId xmlns:r="http://schemas.openxmlformats.org/officeDocument/2006/relationships" id="2147483652" r:id="R49570cf870f74882"/>
    <p:sldLayoutId xmlns:r="http://schemas.openxmlformats.org/officeDocument/2006/relationships" id="2147483653" r:id="Raa089d4459b74d5f"/>
    <p:sldLayoutId xmlns:r="http://schemas.openxmlformats.org/officeDocument/2006/relationships" id="2147483654" r:id="R06af07b92fd046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b3c31f0ca4c6e" /><Relationship Type="http://schemas.openxmlformats.org/officeDocument/2006/relationships/notesSlide" Target="/ppt/notesSlides/notesSlide1.xml" Id="R20a0cfdb99e14d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25ba1aeca470f" /><Relationship Type="http://schemas.openxmlformats.org/officeDocument/2006/relationships/notesSlide" Target="/ppt/notesSlides/notesSlide2.xml" Id="R4f0189283bba45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6c5f3a1924312" /><Relationship Type="http://schemas.openxmlformats.org/officeDocument/2006/relationships/notesSlide" Target="/ppt/notesSlides/notesSlide3.xml" Id="Rdba6e61950df42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dbf98429546b1" /><Relationship Type="http://schemas.openxmlformats.org/officeDocument/2006/relationships/notesSlide" Target="/ppt/notesSlides/notesSlide4.xml" Id="R9c811d899c8342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b4493d1fc4b36" /><Relationship Type="http://schemas.openxmlformats.org/officeDocument/2006/relationships/notesSlide" Target="/ppt/notesSlides/notesSlide5.xml" Id="R18c15939a8a545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a50cdf1834a7d" /><Relationship Type="http://schemas.openxmlformats.org/officeDocument/2006/relationships/notesSlide" Target="/ppt/notesSlides/notesSlide6.xml" Id="R36e092b892074c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be7b3b1e04f6d" /><Relationship Type="http://schemas.openxmlformats.org/officeDocument/2006/relationships/notesSlide" Target="/ppt/notesSlides/notesSlide7.xml" Id="Rb013f8b0734c46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1db91bfff4be4" /><Relationship Type="http://schemas.openxmlformats.org/officeDocument/2006/relationships/notesSlide" Target="/ppt/notesSlides/notesSlide8.xml" Id="Rbc0176e7e1714e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2BB87-F8FC-4E36-943E-0EAA1A4C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B6C"/>
          </a:solidFill>
          <a:ln xmlns:a="http://schemas.openxmlformats.org/drawingml/2006/main" w="0">
            <a:solidFill>
              <a:srgbClr val="2F8B6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18489-DDF5-4E8A-A957-8C801695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9D7C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D7C5"/>
                </a:solidFill>
              </a:defRPr>
            </a:pPr>
            <a:r>
              <a:rPr sz="1200" b="1">
                <a:solidFill>
                  <a:srgbClr val="A9D7C5"/>
                </a:solidFill>
              </a:rPr>
              <a:t>强网杯大学生创新创业作品赛道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6B0B2-CAE1-401E-AAD5-B9C5D30B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代码哨兵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CodeGuard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5E1F2-21DA-4F10-A2BA-0BF6E7E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D8E7F2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D8E7F2"/>
                </a:solidFill>
              </a:defRPr>
            </a:pPr>
            <a:r>
              <a:rPr sz="1875">
                <a:solidFill>
                  <a:srgbClr val="D8E7F2"/>
                </a:solidFill>
              </a:rPr>
              <a:t>代码敏感信息泄露风险审计平台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830AC-CF2C-409B-BB13-78258CD1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B8C9D8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B8C9D8"/>
                </a:solidFill>
              </a:defRPr>
            </a:pPr>
            <a:r>
              <a:rPr sz="1350">
                <a:solidFill>
                  <a:srgbClr val="B8C9D8"/>
                </a:solidFill>
              </a:rPr>
              <a:t>让学生在提交代码之前，看见风险、理解风险、记录整改。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ED51A-8879-433D-B963-9E1917F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4F76"/>
          </a:solidFill>
          <a:ln xmlns:a="http://schemas.openxmlformats.org/drawingml/2006/main" w="9525">
            <a:solidFill>
              <a:srgbClr val="356B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6C897-C4FF-45F9-945C-5233B1E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A9D7C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9D7C5"/>
                </a:solidFill>
              </a:defRPr>
            </a:pPr>
            <a:r>
              <a:rPr sz="1500" b="1">
                <a:solidFill>
                  <a:srgbClr val="A9D7C5"/>
                </a:solidFill>
              </a:rPr>
              <a:t>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5064F-A690-43BC-86DD-AE137C9A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DFF9C-D78D-4E78-91CC-D54B397C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527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2C98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2C98F"/>
                </a:solidFill>
              </a:defRPr>
            </a:pPr>
            <a:r>
              <a:rPr sz="1500" b="1">
                <a:solidFill>
                  <a:srgbClr val="F2C98F"/>
                </a:solidFill>
              </a:rPr>
              <a:t>EXPLAIN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4191B-DE2F-4677-A6B5-3BBAD16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22AA9-329E-48BD-81C1-D133343E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FE3F0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3F0"/>
                </a:solidFill>
              </a:defRPr>
            </a:pPr>
            <a:r>
              <a:rPr sz="1500" b="1">
                <a:solidFill>
                  <a:srgbClr val="CFE3F0"/>
                </a:solidFill>
              </a:rPr>
              <a:t>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C902C-78AA-4BF9-9AE6-534CEA8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AFC2D2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AFC2D2"/>
                </a:solidFill>
              </a:defRPr>
            </a:pPr>
            <a:r>
              <a:rPr sz="975">
                <a:solidFill>
                  <a:srgbClr val="AFC2D2"/>
                </a:solidFill>
              </a:rPr>
              <a:t>团队信息：待填占位符</a:t>
            </a:r>
          </a:p>
        </p:txBody>
      </p:sp>
    </p:spTree>
    <p:extLst>
      <p:ext uri="{BB962C8B-B14F-4D97-AF65-F5344CB8AC3E}">
        <p14:creationId xmlns:p14="http://schemas.microsoft.com/office/powerpoint/2010/main" val="56018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B61C9-204E-4D66-A7B9-5CBF4167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467A6"/>
                </a:solidFill>
              </a:defRPr>
            </a:pPr>
            <a:r>
              <a:rPr sz="1125" b="1">
                <a:solidFill>
                  <a:srgbClr val="2467A6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C4DEA-20D0-4750-864F-0022F57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3B61"/>
                </a:solidFill>
              </a:defRPr>
            </a:pPr>
            <a:r>
              <a:rPr sz="2550" b="1">
                <a:solidFill>
                  <a:srgbClr val="123B61"/>
                </a:solidFill>
              </a:rPr>
              <a:t>学生的代码里，风险常常藏在提交之后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6CC3A-FCF2-4B00-8CFD-E0F25AB0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6D7E8D"/>
                </a:solidFill>
              </a:defRPr>
            </a:pPr>
            <a:r>
              <a:rPr sz="1275">
                <a:solidFill>
                  <a:srgbClr val="6D7E8D"/>
                </a:solidFill>
              </a:rPr>
              <a:t>密钥、令牌和个人信息一旦进入仓库，问题就从代码习惯变成安全事件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C2BA5-D17E-4EAE-9930-FBA5B4AE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8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6D7E8D"/>
                </a:solidFill>
              </a:defRPr>
            </a:pPr>
            <a:r>
              <a:rPr sz="900">
                <a:solidFill>
                  <a:srgbClr val="6D7E8D"/>
                </a:solidFill>
              </a:rPr>
              <a:t>代码哨兵 CodeGuard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BFCF4-DC1A-4B14-84DE-341BA7A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095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AF380-769C-4842-8332-66BE07D1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095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949"/>
          </a:solidFill>
          <a:ln xmlns:a="http://schemas.openxmlformats.org/drawingml/2006/main" w="9525">
            <a:solidFill>
              <a:srgbClr val="C849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567BB-4965-4C32-B39D-DFD81EC9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949"/>
          </a:solidFill>
          <a:ln xmlns:a="http://schemas.openxmlformats.org/drawingml/2006/main" w="0">
            <a:solidFill>
              <a:srgbClr val="C8494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19780-3F5B-448C-AF16-95B58213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3B61"/>
                </a:solidFill>
              </a:defRPr>
            </a:pPr>
            <a:r>
              <a:rPr sz="1725" b="1">
                <a:solidFill>
                  <a:srgbClr val="123B61"/>
                </a:solidFill>
              </a:rPr>
              <a:t>写进源码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DDE4B-B786-42C8-8741-D99821D4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6D7E8D"/>
                </a:solidFill>
              </a:defRPr>
            </a:pPr>
            <a:r>
              <a:rPr sz="1200">
                <a:solidFill>
                  <a:srgbClr val="6D7E8D"/>
                </a:solidFill>
              </a:rPr>
              <a:t>API Key、数据库密码和 Token 直接出现在变量赋值或连接串中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EC044-4D54-4344-84FB-BF6D26B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095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7C0BF-64C4-4458-90D5-E3F7966F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095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B25"/>
          </a:solidFill>
          <a:ln xmlns:a="http://schemas.openxmlformats.org/drawingml/2006/main" w="9525">
            <a:solidFill>
              <a:srgbClr val="CC7B2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10579-40E8-43D3-B0A1-15200D1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B25"/>
          </a:solidFill>
          <a:ln xmlns:a="http://schemas.openxmlformats.org/drawingml/2006/main" w="0">
            <a:solidFill>
              <a:srgbClr val="CC7B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0358B-68B2-4AD1-8731-5D9F8049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3B61"/>
                </a:solidFill>
              </a:defRPr>
            </a:pPr>
            <a:r>
              <a:rPr sz="1725" b="1">
                <a:solidFill>
                  <a:srgbClr val="123B61"/>
                </a:solidFill>
              </a:rPr>
              <a:t>难以定位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34C51-C410-4B5D-9494-A6C4C15A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6D7E8D"/>
                </a:solidFill>
              </a:defRPr>
            </a:pPr>
            <a:r>
              <a:rPr sz="1200">
                <a:solidFill>
                  <a:srgbClr val="6D7E8D"/>
                </a:solidFill>
              </a:rPr>
              <a:t>学生知道有风险，却不知道是哪一个文件、哪一行需要处理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33A89-AC8C-4D30-B3D1-1ACAFA4B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095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0B4A2-41C3-4444-8ADA-6288B797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095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7A6"/>
          </a:solidFill>
          <a:ln xmlns:a="http://schemas.openxmlformats.org/drawingml/2006/main" w="9525">
            <a:solidFill>
              <a:srgbClr val="2467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12075-5651-45A9-93B7-7C0CBD3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6"/>
          </a:solidFill>
          <a:ln xmlns:a="http://schemas.openxmlformats.org/drawingml/2006/main" w="0">
            <a:solidFill>
              <a:srgbClr val="2467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43D0B-B215-47B0-B4AA-00435939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38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3B61"/>
                </a:solidFill>
              </a:defRPr>
            </a:pPr>
            <a:r>
              <a:rPr sz="1725" b="1">
                <a:solidFill>
                  <a:srgbClr val="123B61"/>
                </a:solidFill>
              </a:rPr>
              <a:t>不会修复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C3F18-666A-45C5-9E19-76D9A5C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6D7E8D"/>
                </a:solidFill>
              </a:defRPr>
            </a:pPr>
            <a:r>
              <a:rPr sz="1200">
                <a:solidFill>
                  <a:srgbClr val="6D7E8D"/>
                </a:solidFill>
              </a:rPr>
              <a:t>“不要泄露”容易理解，环境变量和受控配置却缺少示例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93C08-B364-448C-B6EB-86D1DC0B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23B61"/>
                </a:solidFill>
              </a:defRPr>
            </a:pPr>
            <a:r>
              <a:rPr sz="1575" b="1">
                <a:solidFill>
                  <a:srgbClr val="123B61"/>
                </a:solidFill>
              </a:rPr>
              <a:t>问题不在于学生不会写代码，而在于安全检查没有进入日常编码流程。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29750-3257-4A25-A899-75C31D6E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solidFill>
              <a:srgbClr val="DCE5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0C64B-42FC-4DA3-85A6-6B101F2F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强网杯大学生创新创业作品赛道  |  项目展示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E6420-D1EF-49A6-9FB0-45EDC519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830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E4B007-DA07-4C0D-ACF0-3158236B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467A6"/>
                </a:solidFill>
              </a:defRPr>
            </a:pPr>
            <a:r>
              <a:rPr sz="1125" b="1">
                <a:solidFill>
                  <a:srgbClr val="2467A6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49DF9-939D-41F0-9ED4-984D31B9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3B61"/>
                </a:solidFill>
              </a:defRPr>
            </a:pPr>
            <a:r>
              <a:rPr sz="2550" b="1">
                <a:solidFill>
                  <a:srgbClr val="123B61"/>
                </a:solidFill>
              </a:rPr>
              <a:t>一条可演示、可复核、可留档的审计流程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A9132-6021-49C0-AD08-7D4397A0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6D7E8D"/>
                </a:solidFill>
              </a:defRPr>
            </a:pPr>
            <a:r>
              <a:rPr sz="1275">
                <a:solidFill>
                  <a:srgbClr val="6D7E8D"/>
                </a:solidFill>
              </a:rPr>
              <a:t>输入代码之后，系统把检测结果转成学生能看懂的整改动作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60FAC-EB82-413E-B396-A3D1C989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8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6D7E8D"/>
                </a:solidFill>
              </a:defRPr>
            </a:pPr>
            <a:r>
              <a:rPr sz="900">
                <a:solidFill>
                  <a:srgbClr val="6D7E8D"/>
                </a:solidFill>
              </a:rPr>
              <a:t>代码哨兵 CodeGuard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9A935-E5E4-40A2-99AB-40D81F5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6CD1D-67A7-4E5C-9CB2-BCFEA00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9526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67A6"/>
          </a:solidFill>
          <a:ln xmlns:a="http://schemas.openxmlformats.org/drawingml/2006/main" w="9525">
            <a:solidFill>
              <a:srgbClr val="246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757A5-EF7E-4617-80EE-12D77F9C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3E2E9-4224-4699-8F10-9426E994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23B61"/>
                </a:solidFill>
              </a:defRPr>
            </a:pPr>
            <a:r>
              <a:rPr sz="1350" b="1">
                <a:solidFill>
                  <a:srgbClr val="123B61"/>
                </a:solidFill>
              </a:rPr>
              <a:t>粘贴代码</a:t>
            </a:r>
          </a:p>
          <a:p xmlns:a="http://schemas.openxmlformats.org/drawingml/2006/main">
            <a:pPr>
              <a:defRPr sz="1350" b="1">
                <a:solidFill>
                  <a:srgbClr val="123B61"/>
                </a:solidFill>
              </a:defRPr>
            </a:pPr>
            <a:r>
              <a:rPr sz="1350" b="1">
                <a:solidFill>
                  <a:srgbClr val="123B61"/>
                </a:solidFill>
              </a:rPr>
              <a:t>上传 ZIP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FD8DB-355B-4061-BBEC-049959C9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67A6"/>
                </a:solidFill>
              </a:defRPr>
            </a:pPr>
            <a:r>
              <a:rPr sz="2250" b="1">
                <a:solidFill>
                  <a:srgbClr val="2467A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4370E-E852-44AB-8E88-95889A40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42239-F000-4DF2-BF8E-E6D8FC8A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9526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B6C"/>
          </a:solidFill>
          <a:ln xmlns:a="http://schemas.openxmlformats.org/drawingml/2006/main" w="9525">
            <a:solidFill>
              <a:srgbClr val="2F8B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20567-B8D4-40DD-A7CC-8E8C1F78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检测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D0D7B-0D4F-41A5-8A30-7A6F871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23B61"/>
                </a:solidFill>
              </a:defRPr>
            </a:pPr>
            <a:r>
              <a:rPr sz="1350" b="1">
                <a:solidFill>
                  <a:srgbClr val="123B61"/>
                </a:solidFill>
              </a:rPr>
              <a:t>规则 + 上下文</a:t>
            </a:r>
          </a:p>
          <a:p xmlns:a="http://schemas.openxmlformats.org/drawingml/2006/main">
            <a:pPr>
              <a:defRPr sz="1350" b="1">
                <a:solidFill>
                  <a:srgbClr val="123B61"/>
                </a:solidFill>
              </a:defRPr>
            </a:pPr>
            <a:r>
              <a:rPr sz="1350" b="1">
                <a:solidFill>
                  <a:srgbClr val="123B61"/>
                </a:solidFill>
              </a:rPr>
              <a:t>高熵特征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C196A-6B63-4409-8950-E0D59649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67A6"/>
                </a:solidFill>
              </a:defRPr>
            </a:pPr>
            <a:r>
              <a:rPr sz="2250" b="1">
                <a:solidFill>
                  <a:srgbClr val="2467A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71FF5-58B6-4EFA-9FC1-AB28230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C92E0-548E-4744-9502-29BD438F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9526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C7B25"/>
          </a:solidFill>
          <a:ln xmlns:a="http://schemas.openxmlformats.org/drawingml/2006/main" w="9525">
            <a:solidFill>
              <a:srgbClr val="CC7B2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9D171-1BA1-40D2-B6A3-B20FBFE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6B484-727F-42D5-8C18-43DBA056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23B61"/>
                </a:solidFill>
              </a:defRPr>
            </a:pPr>
            <a:r>
              <a:rPr sz="1350" b="1">
                <a:solidFill>
                  <a:srgbClr val="123B61"/>
                </a:solidFill>
              </a:rPr>
              <a:t>风险分级</a:t>
            </a:r>
          </a:p>
          <a:p xmlns:a="http://schemas.openxmlformats.org/drawingml/2006/main">
            <a:pPr>
              <a:defRPr sz="1350" b="1">
                <a:solidFill>
                  <a:srgbClr val="123B61"/>
                </a:solidFill>
              </a:defRPr>
            </a:pPr>
            <a:r>
              <a:rPr sz="1350" b="1">
                <a:solidFill>
                  <a:srgbClr val="123B61"/>
                </a:solidFill>
              </a:rPr>
              <a:t>修复示例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02BEB-60DD-4B49-8700-A5284985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67A6"/>
                </a:solidFill>
              </a:defRPr>
            </a:pPr>
            <a:r>
              <a:rPr sz="2250" b="1">
                <a:solidFill>
                  <a:srgbClr val="2467A6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BED00-A5D1-4E96-B215-CA904247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174AF-CEB6-4718-A958-05FE94AE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9526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B61"/>
          </a:solidFill>
          <a:ln xmlns:a="http://schemas.openxmlformats.org/drawingml/2006/main" w="9525">
            <a:solidFill>
              <a:srgbClr val="123B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F4726-15C6-4FAD-B9AB-407BE46E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留档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6E3EA-1658-407B-9262-1DFB401B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23B61"/>
                </a:solidFill>
              </a:defRPr>
            </a:pPr>
            <a:r>
              <a:rPr sz="1350" b="1">
                <a:solidFill>
                  <a:srgbClr val="123B61"/>
                </a:solidFill>
              </a:rPr>
              <a:t>人工确认</a:t>
            </a:r>
          </a:p>
          <a:p xmlns:a="http://schemas.openxmlformats.org/drawingml/2006/main">
            <a:pPr>
              <a:defRPr sz="1350" b="1">
                <a:solidFill>
                  <a:srgbClr val="123B61"/>
                </a:solidFill>
              </a:defRPr>
            </a:pPr>
            <a:r>
              <a:rPr sz="1350" b="1">
                <a:solidFill>
                  <a:srgbClr val="123B61"/>
                </a:solidFill>
              </a:rPr>
              <a:t>PDF 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38CD6-70E6-4441-87E2-EAE6CF5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23B61"/>
                </a:solidFill>
              </a:defRPr>
            </a:pPr>
            <a:r>
              <a:rPr sz="1575" b="1">
                <a:solidFill>
                  <a:srgbClr val="123B61"/>
                </a:solidFill>
              </a:rPr>
              <a:t>原始源码不被自动修改。系统只做风险发现、解释和整改记录。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D9924-00C5-4DE5-86AE-862F1DF2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949"/>
          </a:solidFill>
          <a:ln xmlns:a="http://schemas.openxmlformats.org/drawingml/2006/main" w="9525">
            <a:solidFill>
              <a:srgbClr val="C849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A3297-2061-4B7E-96CB-4645EF5F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29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不自动改源码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B05910-C105-4D1C-B168-69ACF77F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72125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7A6"/>
          </a:solidFill>
          <a:ln xmlns:a="http://schemas.openxmlformats.org/drawingml/2006/main" w="9525">
            <a:solidFill>
              <a:srgbClr val="2467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0C437-7F48-4B18-BB57-9AD5D29F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29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DeepSeek 可选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F43D73-2591-4BB4-A41B-D38CB86A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B6C"/>
          </a:solidFill>
          <a:ln xmlns:a="http://schemas.openxmlformats.org/drawingml/2006/main" w="9525">
            <a:solidFill>
              <a:srgbClr val="2F8B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DFCEF-263C-4AC1-9F66-C40EEB60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29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中文 PDF 归档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23E067-6079-466F-816F-F2AB4C38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solidFill>
              <a:srgbClr val="DCE5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AB27A7-4128-417D-9147-0AFDED21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强网杯大学生创新创业作品赛道  |  项目展示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DE334-E161-4A74-AC96-E95E9A17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2873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81AD9-1EB8-42B1-8DAB-82148ADE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467A6"/>
                </a:solidFill>
              </a:defRPr>
            </a:pPr>
            <a:r>
              <a:rPr sz="1125" b="1">
                <a:solidFill>
                  <a:srgbClr val="2467A6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EB3A7-E406-4592-9ECC-0CFF3329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3B61"/>
                </a:solidFill>
              </a:defRPr>
            </a:pPr>
            <a:r>
              <a:rPr sz="2550" b="1">
                <a:solidFill>
                  <a:srgbClr val="123B61"/>
                </a:solidFill>
              </a:rPr>
              <a:t>混合检测让风险判断更接近真实代码场景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02F8B-C42E-4302-8DFE-E44DE9A5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6D7E8D"/>
                </a:solidFill>
              </a:defRPr>
            </a:pPr>
            <a:r>
              <a:rPr sz="1275">
                <a:solidFill>
                  <a:srgbClr val="6D7E8D"/>
                </a:solidFill>
              </a:rPr>
              <a:t>不依赖一张规则清单，而是把多个信号组合成一条可解释的风险线索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0AAFE-D57A-49E1-97DD-F0A568D7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8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6D7E8D"/>
                </a:solidFill>
              </a:defRPr>
            </a:pPr>
            <a:r>
              <a:rPr sz="900">
                <a:solidFill>
                  <a:srgbClr val="6D7E8D"/>
                </a:solidFill>
              </a:rPr>
              <a:t>代码哨兵 CodeGuard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52429-904F-4E69-BEB0-AFC5ABD4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1433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7479C-2503-421C-A906-C108DD79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3B61"/>
                </a:solidFill>
              </a:defRPr>
            </a:pPr>
            <a:r>
              <a:rPr sz="1725" b="1">
                <a:solidFill>
                  <a:srgbClr val="123B61"/>
                </a:solidFill>
              </a:rPr>
              <a:t>检测信号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5144F-016B-45D8-A66D-45C39663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949"/>
          </a:solidFill>
          <a:ln xmlns:a="http://schemas.openxmlformats.org/drawingml/2006/main" w="0">
            <a:solidFill>
              <a:srgbClr val="C8494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069B7-D902-495D-8550-F8D29F6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82A3B"/>
                </a:solidFill>
              </a:defRPr>
            </a:pPr>
            <a:r>
              <a:rPr sz="1200">
                <a:solidFill>
                  <a:srgbClr val="182A3B"/>
                </a:solidFill>
              </a:rPr>
              <a:t>风险类别特征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7532D-9320-44B3-9BF4-A1BF9C49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00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6"/>
          </a:solidFill>
          <a:ln xmlns:a="http://schemas.openxmlformats.org/drawingml/2006/main" w="0">
            <a:solidFill>
              <a:srgbClr val="2467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586FC-B86F-4499-8A64-C5D6989A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82A3B"/>
                </a:solidFill>
              </a:defRPr>
            </a:pPr>
            <a:r>
              <a:rPr sz="1200">
                <a:solidFill>
                  <a:srgbClr val="182A3B"/>
                </a:solidFill>
              </a:rPr>
              <a:t>变量名与代码上下文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658D2-BB6D-4FE5-BC6F-F62B39A7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6"/>
          </a:solidFill>
          <a:ln xmlns:a="http://schemas.openxmlformats.org/drawingml/2006/main" w="0">
            <a:solidFill>
              <a:srgbClr val="2467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A8A87-54BB-4F5C-B745-4ABB1734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82A3B"/>
                </a:solidFill>
              </a:defRPr>
            </a:pPr>
            <a:r>
              <a:rPr sz="1200">
                <a:solidFill>
                  <a:srgbClr val="182A3B"/>
                </a:solidFill>
              </a:rPr>
              <a:t>文件类型与配置位置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B13C9-8695-431A-91E2-ABF85A7E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57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6"/>
          </a:solidFill>
          <a:ln xmlns:a="http://schemas.openxmlformats.org/drawingml/2006/main" w="0">
            <a:solidFill>
              <a:srgbClr val="2467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D1110-95AF-45A6-B5B5-08C3AC43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82A3B"/>
                </a:solidFill>
              </a:defRPr>
            </a:pPr>
            <a:r>
              <a:rPr sz="1200">
                <a:solidFill>
                  <a:srgbClr val="182A3B"/>
                </a:solidFill>
              </a:rPr>
              <a:t>占位符和样例值识别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14A27-B97A-440E-BC4C-5CC70349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86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6"/>
          </a:solidFill>
          <a:ln xmlns:a="http://schemas.openxmlformats.org/drawingml/2006/main" w="0">
            <a:solidFill>
              <a:srgbClr val="2467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D8A10-334D-4860-AD62-EB12787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82A3B"/>
                </a:solidFill>
              </a:defRPr>
            </a:pPr>
            <a:r>
              <a:rPr sz="1200">
                <a:solidFill>
                  <a:srgbClr val="182A3B"/>
                </a:solidFill>
              </a:rPr>
              <a:t>高熵字符串特征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3A4A7-28F4-48E2-B1D0-31FF6537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6000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23B61"/>
          </a:solidFill>
          <a:ln xmlns:a="http://schemas.openxmlformats.org/drawingml/2006/main" w="9525">
            <a:solidFill>
              <a:srgbClr val="123B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5C74B-F79C-4C01-8FA7-154B1A67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输出一条可解释的风险记录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C4CC9-1B50-44E6-A322-4E98F81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95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7F2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D8E7F2"/>
                </a:solidFill>
              </a:defRPr>
            </a:pPr>
            <a:r>
              <a:rPr sz="1275">
                <a:solidFill>
                  <a:srgbClr val="D8E7F2"/>
                </a:solidFill>
              </a:rPr>
              <a:t>文件名     app.py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9EC3E-EDE5-474F-A8E0-4FFD3B95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76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7F2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D8E7F2"/>
                </a:solidFill>
              </a:defRPr>
            </a:pPr>
            <a:r>
              <a:rPr sz="1275">
                <a:solidFill>
                  <a:srgbClr val="D8E7F2"/>
                </a:solidFill>
              </a:rPr>
              <a:t>代码行     第 3 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8C385-7D1E-4458-8814-EFEEDD7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57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7F2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D8E7F2"/>
                </a:solidFill>
              </a:defRPr>
            </a:pPr>
            <a:r>
              <a:rPr sz="1275">
                <a:solidFill>
                  <a:srgbClr val="D8E7F2"/>
                </a:solidFill>
              </a:rPr>
              <a:t>风险类型   API 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5F95B-4C5A-42E2-B54F-D951548B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38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2C98F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F2C98F"/>
                </a:solidFill>
              </a:defRPr>
            </a:pPr>
            <a:r>
              <a:rPr sz="1275">
                <a:solidFill>
                  <a:srgbClr val="F2C98F"/>
                </a:solidFill>
              </a:rPr>
              <a:t>风险等级   中风险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A75FB-BD9D-463F-9DE8-B3FEAA9B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9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A9D7C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A9D7C5"/>
                </a:solidFill>
              </a:defRPr>
            </a:pPr>
            <a:r>
              <a:rPr sz="1200">
                <a:solidFill>
                  <a:srgbClr val="A9D7C5"/>
                </a:solidFill>
              </a:rPr>
              <a:t>证据说明   变量名与赋值特征共同命中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D0C05-9B38-4497-A962-B961084F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solidFill>
              <a:srgbClr val="DCE5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54959-B463-44B2-8E79-489E7010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强网杯大学生创新创业作品赛道  |  项目展示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6A360-D09D-438B-998F-69E2B4A8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5010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49C05-B4A6-4715-B1AD-79A012CE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467A6"/>
                </a:solidFill>
              </a:defRPr>
            </a:pPr>
            <a:r>
              <a:rPr sz="1125" b="1">
                <a:solidFill>
                  <a:srgbClr val="2467A6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F82EE-7953-45C2-95A8-14F1014A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3B61"/>
                </a:solidFill>
              </a:defRPr>
            </a:pPr>
            <a:r>
              <a:rPr sz="2550" b="1">
                <a:solidFill>
                  <a:srgbClr val="123B61"/>
                </a:solidFill>
              </a:rPr>
              <a:t>页面把风险位置和整改动作放在同一个视野里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1DAC7-EBC7-4052-A46C-EB5F1C41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6D7E8D"/>
                </a:solidFill>
              </a:defRPr>
            </a:pPr>
            <a:r>
              <a:rPr sz="1275">
                <a:solidFill>
                  <a:srgbClr val="6D7E8D"/>
                </a:solidFill>
              </a:rPr>
              <a:t>比赛现场可以用一段演示代码完成从发现到报告的完整展示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F726B-DB58-435F-BA4C-43FCCA59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8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6D7E8D"/>
                </a:solidFill>
              </a:defRPr>
            </a:pPr>
            <a:r>
              <a:rPr sz="900">
                <a:solidFill>
                  <a:srgbClr val="6D7E8D"/>
                </a:solidFill>
              </a:rPr>
              <a:t>代码哨兵 CodeGuard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FCB55-106C-4E0C-BC20-E14D7D3A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81012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50350-EEAF-4BE6-97DD-16CF8F37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3B61"/>
                </a:solidFill>
              </a:defRPr>
            </a:pPr>
            <a:r>
              <a:rPr sz="1425" b="1">
                <a:solidFill>
                  <a:srgbClr val="123B61"/>
                </a:solidFill>
              </a:rPr>
              <a:t>风险代码位置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EA436-FF14-45CB-A1F1-EDDA9670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84949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84949"/>
                </a:solidFill>
              </a:defRPr>
            </a:pPr>
            <a:r>
              <a:rPr sz="1125" b="1">
                <a:solidFill>
                  <a:srgbClr val="C84949"/>
                </a:solidFill>
              </a:rPr>
              <a:t>3   API_KEY = "sk_demo_********890"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BFB0A-9261-4C40-97DA-76C61134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CC7B25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CC7B25"/>
                </a:solidFill>
              </a:defRPr>
            </a:pPr>
            <a:r>
              <a:rPr sz="1125">
                <a:solidFill>
                  <a:srgbClr val="CC7B25"/>
                </a:solidFill>
              </a:rPr>
              <a:t>4   DB_PASSWORD = "demo-********026"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0A41D-450E-4CDF-8BFF-E2090AD6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CC7B25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CC7B25"/>
                </a:solidFill>
              </a:defRPr>
            </a:pPr>
            <a:r>
              <a:rPr sz="1125">
                <a:solidFill>
                  <a:srgbClr val="CC7B25"/>
                </a:solidFill>
              </a:rPr>
              <a:t>5   JWT_TOKEN = "eyJ********ure"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0DB7F-91EE-4084-8861-5B2BA1AD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6D7E8D"/>
                </a:solidFill>
              </a:defRPr>
            </a:pPr>
            <a:r>
              <a:rPr sz="975">
                <a:solidFill>
                  <a:srgbClr val="6D7E8D"/>
                </a:solidFill>
              </a:rPr>
              <a:t>文件：app.py     行号：3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C7511-E0D0-4586-B068-E77CBA0C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334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4CF45-CF9E-4B4C-BF69-77A595F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3B61"/>
                </a:solidFill>
              </a:defRPr>
            </a:pPr>
            <a:r>
              <a:rPr sz="1425" b="1">
                <a:solidFill>
                  <a:srgbClr val="123B61"/>
                </a:solidFill>
              </a:rPr>
              <a:t>修复建议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CB682-5E8C-4BA2-A435-00980AB6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182A3B"/>
                </a:solidFill>
              </a:defRPr>
            </a:pPr>
            <a:r>
              <a:rPr sz="1275">
                <a:solidFill>
                  <a:srgbClr val="182A3B"/>
                </a:solidFill>
              </a:rPr>
              <a:t>将密钥移出源码，放入环境变量或密钥管理服务。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82A3B"/>
                </a:solidFill>
              </a:defRPr>
            </a:pPr>
            <a:r>
              <a:rPr sz="1275">
                <a:solidFill>
                  <a:srgbClr val="182A3B"/>
                </a:solidFill>
              </a:rPr>
              <a:t>正确示例</a:t>
            </a:r>
          </a:p>
          <a:p xmlns:a="http://schemas.openxmlformats.org/drawingml/2006/main">
            <a:pPr>
              <a:defRPr sz="1275">
                <a:solidFill>
                  <a:srgbClr val="182A3B"/>
                </a:solidFill>
              </a:defRPr>
            </a:pPr>
            <a:r>
              <a:rPr sz="1275">
                <a:solidFill>
                  <a:srgbClr val="182A3B"/>
                </a:solidFill>
              </a:rPr>
              <a:t>api_key = os.environ["SERVICE_API_KEY"]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8237D-95B0-4B46-A470-4FF1E92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625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7A6"/>
          </a:solidFill>
          <a:ln xmlns:a="http://schemas.openxmlformats.org/drawingml/2006/main" w="9525">
            <a:solidFill>
              <a:srgbClr val="2467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3B57B-16B7-4835-80A6-BDCB5F9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19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601C4-6292-4123-8AA4-467520EB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B6C"/>
          </a:solidFill>
          <a:ln xmlns:a="http://schemas.openxmlformats.org/drawingml/2006/main" w="9525">
            <a:solidFill>
              <a:srgbClr val="2F8B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14202-1038-40E8-8A75-15D6A41A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已修复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B86A2-7AF0-422D-B518-0C6D6EEA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B25"/>
          </a:solidFill>
          <a:ln xmlns:a="http://schemas.openxmlformats.org/drawingml/2006/main" w="9525">
            <a:solidFill>
              <a:srgbClr val="CC7B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9F93E-114D-4957-B6D7-323CB9A1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9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误报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18280-1DBD-44BD-8C13-4FBFB79D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solidFill>
              <a:srgbClr val="DCE5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8A624-7CF3-4249-AD8E-EB1BD4D6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强网杯大学生创新创业作品赛道  |  项目展示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99403-31A9-437E-987A-F18171D9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4282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6C32E-68D1-499F-8624-9D5FD2DC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467A6"/>
                </a:solidFill>
              </a:defRPr>
            </a:pPr>
            <a:r>
              <a:rPr sz="1125" b="1">
                <a:solidFill>
                  <a:srgbClr val="2467A6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1584B-9D1B-45B2-92EC-C1A46435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3B61"/>
                </a:solidFill>
              </a:defRPr>
            </a:pPr>
            <a:r>
              <a:rPr sz="2550" b="1">
                <a:solidFill>
                  <a:srgbClr val="123B61"/>
                </a:solidFill>
              </a:rPr>
              <a:t>项目创新点落在学生真正需要的环节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FAD1F-0E44-4CB5-B938-0AA24C44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6D7E8D"/>
                </a:solidFill>
              </a:defRPr>
            </a:pPr>
            <a:r>
              <a:rPr sz="1275">
                <a:solidFill>
                  <a:srgbClr val="6D7E8D"/>
                </a:solidFill>
              </a:rPr>
              <a:t>从“发现一个字符串”走向“理解风险并完成整改”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02E3E-479B-4E7E-8990-118A5D82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8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6D7E8D"/>
                </a:solidFill>
              </a:defRPr>
            </a:pPr>
            <a:r>
              <a:rPr sz="900">
                <a:solidFill>
                  <a:srgbClr val="6D7E8D"/>
                </a:solidFill>
              </a:rPr>
              <a:t>代码哨兵 CodeGuard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1FE53-17FF-4208-8092-72D5A1BD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0FE59-3E96-4F8C-AA2C-0876A816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4775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7A6"/>
          </a:solidFill>
          <a:ln xmlns:a="http://schemas.openxmlformats.org/drawingml/2006/main" w="9525">
            <a:solidFill>
              <a:srgbClr val="246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FCEB5-392A-4FE0-9B3B-1B78FF8E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3B61"/>
                </a:solidFill>
              </a:defRPr>
            </a:pPr>
            <a:r>
              <a:rPr sz="1425" b="1">
                <a:solidFill>
                  <a:srgbClr val="123B61"/>
                </a:solidFill>
              </a:rPr>
              <a:t>教学闭环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C6DB1-D2DB-417C-95D5-BB5E4B82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182A3B"/>
                </a:solidFill>
              </a:defRPr>
            </a:pPr>
            <a:r>
              <a:rPr sz="1275">
                <a:solidFill>
                  <a:srgbClr val="182A3B"/>
                </a:solidFill>
              </a:rPr>
              <a:t>检测、定位、解释、复核、留档连成一条流程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7522C-1FEF-4F67-8CDC-DD549B98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C5C63-5A1A-4FF6-8157-C65825B7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04775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B6C"/>
          </a:solidFill>
          <a:ln xmlns:a="http://schemas.openxmlformats.org/drawingml/2006/main" w="9525">
            <a:solidFill>
              <a:srgbClr val="2F8B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B9EE8-B387-4B34-B57F-E98AB495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3B61"/>
                </a:solidFill>
              </a:defRPr>
            </a:pPr>
            <a:r>
              <a:rPr sz="1425" b="1">
                <a:solidFill>
                  <a:srgbClr val="123B61"/>
                </a:solidFill>
              </a:rPr>
              <a:t>分层架构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A3B50-74D2-4617-8059-66DC44C0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182A3B"/>
                </a:solidFill>
              </a:defRPr>
            </a:pPr>
            <a:r>
              <a:rPr sz="1275">
                <a:solidFill>
                  <a:srgbClr val="182A3B"/>
                </a:solidFill>
              </a:rPr>
              <a:t>本地扫描保证稳定，大模型只增强中文解释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2A427-290B-4160-8D04-249604F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43920-1501-4CD7-8040-FB8B8C1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4775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B25"/>
          </a:solidFill>
          <a:ln xmlns:a="http://schemas.openxmlformats.org/drawingml/2006/main" w="9525">
            <a:solidFill>
              <a:srgbClr val="CC7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0D2B3-F491-4320-88EC-CB8C8179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3B61"/>
                </a:solidFill>
              </a:defRPr>
            </a:pPr>
            <a:r>
              <a:rPr sz="1425" b="1">
                <a:solidFill>
                  <a:srgbClr val="123B61"/>
                </a:solidFill>
              </a:rPr>
              <a:t>人工确认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B1917-1C4D-409E-9BE2-34DCD873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182A3B"/>
                </a:solidFill>
              </a:defRPr>
            </a:pPr>
            <a:r>
              <a:rPr sz="1275">
                <a:solidFill>
                  <a:srgbClr val="182A3B"/>
                </a:solidFill>
              </a:rPr>
              <a:t>误报、确认和修复都有明确状态，可追踪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F573E-D4FB-4316-B74E-B32D7B8E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89BF6-AD35-4130-8F4C-1B5D89A9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4775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1"/>
          </a:solidFill>
          <a:ln xmlns:a="http://schemas.openxmlformats.org/drawingml/2006/main" w="9525">
            <a:solidFill>
              <a:srgbClr val="123B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4C699-AE2D-4D48-A875-79755B99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3B61"/>
                </a:solidFill>
              </a:defRPr>
            </a:pPr>
            <a:r>
              <a:rPr sz="1425" b="1">
                <a:solidFill>
                  <a:srgbClr val="123B61"/>
                </a:solidFill>
              </a:rPr>
              <a:t>原创实现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CFE94-784E-4AAF-AF1A-76481B47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006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182A3B"/>
                </a:solidFill>
              </a:defRPr>
            </a:pPr>
            <a:r>
              <a:rPr sz="1275">
                <a:solidFill>
                  <a:srgbClr val="182A3B"/>
                </a:solidFill>
              </a:rPr>
              <a:t>自定义风险类别、评分机制和教学型建议模板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616EA-0B6C-4D9A-B737-2759AE23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solidFill>
              <a:srgbClr val="DCE5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7A05D-8BE1-4DC2-8EA9-F8B9E228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强网杯大学生创新创业作品赛道  |  项目展示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B9818-5B5D-4228-A3EC-3418852A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9953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A1A09-4FE4-48EF-9C74-78462700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67A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467A6"/>
                </a:solidFill>
              </a:defRPr>
            </a:pPr>
            <a:r>
              <a:rPr sz="1125" b="1">
                <a:solidFill>
                  <a:srgbClr val="2467A6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BFF5B-772F-4C62-81B4-3B260A98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3B61"/>
                </a:solidFill>
              </a:defRPr>
            </a:pPr>
            <a:r>
              <a:rPr sz="2550" b="1">
                <a:solidFill>
                  <a:srgbClr val="123B61"/>
                </a:solidFill>
              </a:rPr>
              <a:t>从课程作业开始，逐步扩展到校园代码安全流程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CDBC9-35F6-4992-9025-DF437015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6D7E8D"/>
                </a:solidFill>
              </a:defRPr>
            </a:pPr>
            <a:r>
              <a:rPr sz="1275">
                <a:solidFill>
                  <a:srgbClr val="6D7E8D"/>
                </a:solidFill>
              </a:rPr>
              <a:t>先解决高频、可演示的问题，再通过规则和教学场景扩展能力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5E212-8C47-496D-818B-188B5FB9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8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6D7E8D"/>
                </a:solidFill>
              </a:defRPr>
            </a:pPr>
            <a:r>
              <a:rPr sz="900">
                <a:solidFill>
                  <a:srgbClr val="6D7E8D"/>
                </a:solidFill>
              </a:rPr>
              <a:t>代码哨兵 CodeGuard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96016-8D36-48BD-92D4-25E8C1E8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048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CE1B2-AA42-458A-AE01-F4D1B7C4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61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3B61"/>
                </a:solidFill>
              </a:defRPr>
            </a:pPr>
            <a:r>
              <a:rPr sz="1725" b="1">
                <a:solidFill>
                  <a:srgbClr val="123B61"/>
                </a:solidFill>
              </a:rPr>
              <a:t>应用价值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908DA-4397-4D6E-9FAA-2BB2EF3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82A3B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82A3B"/>
                </a:solidFill>
              </a:defRPr>
            </a:pPr>
            <a:r>
              <a:rPr sz="1350">
                <a:solidFill>
                  <a:srgbClr val="182A3B"/>
                </a:solidFill>
              </a:rPr>
              <a:t>学生</a:t>
            </a:r>
          </a:p>
          <a:p xmlns:a="http://schemas.openxmlformats.org/drawingml/2006/main">
            <a:pPr>
              <a:defRPr sz="1350">
                <a:solidFill>
                  <a:srgbClr val="182A3B"/>
                </a:solidFill>
              </a:defRPr>
            </a:pPr>
            <a:r>
              <a:rPr sz="1350">
                <a:solidFill>
                  <a:srgbClr val="182A3B"/>
                </a:solidFill>
              </a:rPr>
              <a:t>提交前自查，学习环境变量和密钥管理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82A3B"/>
                </a:solidFill>
              </a:defRPr>
            </a:pPr>
            <a:r>
              <a:rPr sz="1350">
                <a:solidFill>
                  <a:srgbClr val="182A3B"/>
                </a:solidFill>
              </a:rPr>
              <a:t>教师</a:t>
            </a:r>
          </a:p>
          <a:p xmlns:a="http://schemas.openxmlformats.org/drawingml/2006/main">
            <a:pPr>
              <a:defRPr sz="1350">
                <a:solidFill>
                  <a:srgbClr val="182A3B"/>
                </a:solidFill>
              </a:defRPr>
            </a:pPr>
            <a:r>
              <a:rPr sz="1350">
                <a:solidFill>
                  <a:srgbClr val="182A3B"/>
                </a:solidFill>
              </a:rPr>
              <a:t>批量查看常见问题，留下课程安全记录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82A3B"/>
                </a:solidFill>
              </a:defRPr>
            </a:pPr>
            <a:r>
              <a:rPr sz="1350">
                <a:solidFill>
                  <a:srgbClr val="182A3B"/>
                </a:solidFill>
              </a:rPr>
              <a:t>项目团队</a:t>
            </a:r>
          </a:p>
          <a:p xmlns:a="http://schemas.openxmlformats.org/drawingml/2006/main">
            <a:pPr>
              <a:defRPr sz="1350">
                <a:solidFill>
                  <a:srgbClr val="182A3B"/>
                </a:solidFill>
              </a:defRPr>
            </a:pPr>
            <a:r>
              <a:rPr sz="1350">
                <a:solidFill>
                  <a:srgbClr val="182A3B"/>
                </a:solidFill>
              </a:rPr>
              <a:t>沉淀规则、样例和后续扩展方向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FAD98-7D8C-4BA4-9186-49D28B68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509587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23B61"/>
          </a:solidFill>
          <a:ln xmlns:a="http://schemas.openxmlformats.org/drawingml/2006/main" w="9525">
            <a:solidFill>
              <a:srgbClr val="123B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051A8-BEB6-475D-BCC1-D237A5A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实施节奏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DA006-A2BE-42D5-9706-CF3BC2AC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D8E7F2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D8E7F2"/>
                </a:solidFill>
              </a:defRPr>
            </a:pPr>
            <a:r>
              <a:rPr sz="1350">
                <a:solidFill>
                  <a:srgbClr val="D8E7F2"/>
                </a:solidFill>
              </a:rPr>
              <a:t>第一步   可运行网页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3B015-7865-41C1-BE3D-8F9FB6E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19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D8E7F2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D8E7F2"/>
                </a:solidFill>
              </a:defRPr>
            </a:pPr>
            <a:r>
              <a:rPr sz="1350">
                <a:solidFill>
                  <a:srgbClr val="D8E7F2"/>
                </a:solidFill>
              </a:rPr>
              <a:t>第二步   DeepSeek 建议与 PDF 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81512-3A1A-4523-8D93-434C73FB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9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A9D7C5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A9D7C5"/>
                </a:solidFill>
              </a:defRPr>
            </a:pPr>
            <a:r>
              <a:rPr sz="1350">
                <a:solidFill>
                  <a:srgbClr val="A9D7C5"/>
                </a:solidFill>
              </a:rPr>
              <a:t>第三步   测试、演示数据和材料归档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7563F-368D-44A0-9971-F0020996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72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F2C98F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F2C98F"/>
                </a:solidFill>
              </a:defRPr>
            </a:pPr>
            <a:r>
              <a:rPr sz="1200">
                <a:solidFill>
                  <a:srgbClr val="F2C98F"/>
                </a:solidFill>
              </a:rPr>
              <a:t>后续     自定义规则、更多语言与流水线接入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BD1AE-5BF8-40C4-875B-9B7258C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solidFill>
              <a:srgbClr val="DCE5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B2626-1AE6-4F60-900D-E61900A6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强网杯大学生创新创业作品赛道  |  项目展示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63B61-17FC-48D9-AF26-B36E157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D7E8D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D7E8D"/>
                </a:solidFill>
              </a:defRPr>
            </a:pPr>
            <a:r>
              <a:rPr sz="750">
                <a:solidFill>
                  <a:srgbClr val="6D7E8D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40385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B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327B2-90AE-45A6-B563-6B9B1E55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90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代码安全教育，从一次提交前检查开始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606BB-6616-475E-B8F7-73E291ED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9D7C5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9D7C5"/>
                </a:solidFill>
              </a:defRPr>
            </a:pPr>
            <a:r>
              <a:rPr sz="1950" b="1">
                <a:solidFill>
                  <a:srgbClr val="A9D7C5"/>
                </a:solidFill>
              </a:rPr>
              <a:t>代码哨兵 CodeGuard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7699E-F34A-4A63-82FB-7F300928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D8E7F2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rgbClr val="D8E7F2"/>
                </a:solidFill>
              </a:defRPr>
            </a:pPr>
            <a:r>
              <a:rPr sz="1650">
                <a:solidFill>
                  <a:srgbClr val="D8E7F2"/>
                </a:solidFill>
              </a:rPr>
              <a:t>发现风险，不替你改代码。</a:t>
            </a:r>
          </a:p>
          <a:p xmlns:a="http://schemas.openxmlformats.org/drawingml/2006/main">
            <a:pPr>
              <a:defRPr sz="1650">
                <a:solidFill>
                  <a:srgbClr val="D8E7F2"/>
                </a:solidFill>
              </a:defRPr>
            </a:pPr>
            <a:r>
              <a:rPr sz="1650">
                <a:solidFill>
                  <a:srgbClr val="D8E7F2"/>
                </a:solidFill>
              </a:rPr>
              <a:t>解释风险，教你正确存储。</a:t>
            </a:r>
          </a:p>
          <a:p xmlns:a="http://schemas.openxmlformats.org/drawingml/2006/main">
            <a:pPr>
              <a:defRPr sz="1650">
                <a:solidFill>
                  <a:srgbClr val="D8E7F2"/>
                </a:solidFill>
              </a:defRPr>
            </a:pPr>
            <a:r>
              <a:rPr sz="1650">
                <a:solidFill>
                  <a:srgbClr val="D8E7F2"/>
                </a:solidFill>
              </a:rPr>
              <a:t>留下报告，形成安全记录。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40BB8-8995-4B4C-8395-9BB72F0E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14F76"/>
          </a:solidFill>
          <a:ln xmlns:a="http://schemas.openxmlformats.org/drawingml/2006/main" w="9525">
            <a:solidFill>
              <a:srgbClr val="356B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AB1A8-EBB5-4E96-AAE3-36D656B6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A9D7C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9D7C5"/>
                </a:solidFill>
              </a:defRPr>
            </a:pPr>
            <a:r>
              <a:rPr sz="1500" b="1">
                <a:solidFill>
                  <a:srgbClr val="A9D7C5"/>
                </a:solidFill>
              </a:rPr>
              <a:t>SCAN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0922F-F588-4F4C-BEE6-5B841FEA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2C98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2C98F"/>
                </a:solidFill>
              </a:defRPr>
            </a:pPr>
            <a:r>
              <a:rPr sz="1500" b="1">
                <a:solidFill>
                  <a:srgbClr val="F2C98F"/>
                </a:solidFill>
              </a:rPr>
              <a:t>EXPLAIN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A1C95-CD81-4507-8ABE-4ADBB7D5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FE3F0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3F0"/>
                </a:solidFill>
              </a:defRPr>
            </a:pPr>
            <a:r>
              <a:rPr sz="1500" b="1">
                <a:solidFill>
                  <a:srgbClr val="CFE3F0"/>
                </a:solidFill>
              </a:rPr>
              <a:t>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6D654-A387-4380-A07F-9BD85F8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谢谢！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5017C-4B6A-4649-83CA-17258EE5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388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AFC2D2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AFC2D2"/>
                </a:solidFill>
              </a:defRPr>
            </a:pPr>
            <a:r>
              <a:rPr sz="900">
                <a:solidFill>
                  <a:srgbClr val="AFC2D2"/>
                </a:solidFill>
              </a:rPr>
              <a:t>团队信息：待填占位符</a:t>
            </a:r>
          </a:p>
        </p:txBody>
      </p:sp>
    </p:spTree>
    <p:extLst>
      <p:ext uri="{BB962C8B-B14F-4D97-AF65-F5344CB8AC3E}">
        <p14:creationId xmlns:p14="http://schemas.microsoft.com/office/powerpoint/2010/main" val="355622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2026-10-17T06:49:38.5220000Z</dcterms:created>
  <dcterms:modified xsi:type="dcterms:W3CDTF">2026-10-17T06:49:38.5220000Z</dcterms:modified>
</coreProperties>
</file>